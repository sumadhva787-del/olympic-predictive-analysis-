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3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AACFD0"/>
                </a:solidFill>
                <a:latin typeface="Aptos"/>
              </a:rPr>
              <a:t>DATA ANALYTICS AND VISUALIZATION  |  SPORTS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OLYMPIC PREDICTIVE</a:t>
            </a:r>
          </a:p>
          <a:p>
            <a:pPr algn="l">
              <a:spcAft>
                <a:spcPts val="50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3182112"/>
            <a:ext cx="97840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 i="0">
                <a:solidFill>
                  <a:srgbClr val="E1E8ED"/>
                </a:solidFill>
                <a:latin typeface="Aptos"/>
              </a:rPr>
              <a:t>Turning Olympic history into clear patterns, useful insights, and medal forecasts.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4160520"/>
            <a:ext cx="1188720" cy="50292"/>
          </a:xfrm>
          <a:prstGeom prst="rect">
            <a:avLst/>
          </a:prstGeom>
          <a:solidFill>
            <a:srgbClr val="CD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9601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Power BI dashboard  •  Random Forest predictions  •  KDD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5989320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AB7C2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2331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E6C7A"/>
                </a:solidFill>
                <a:latin typeface="Aptos"/>
              </a:rPr>
              <a:t>Historical data tells us what happened—but analysis can help explain patterns and support forecasts.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6362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A large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31546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32C38"/>
                </a:solidFill>
                <a:latin typeface="Aptos"/>
              </a:rPr>
              <a:t>Olympic records cover countries, athletes, sports, events, and medal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CD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56362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Many influences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947672"/>
            <a:ext cx="31546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32C38"/>
                </a:solidFill>
                <a:latin typeface="Aptos"/>
              </a:rPr>
              <a:t>Participation, sport mix, host advantage, and changes between editions may affect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52044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6362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Need for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47672"/>
            <a:ext cx="315468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32C38"/>
                </a:solidFill>
                <a:latin typeface="Aptos"/>
              </a:rPr>
              <a:t>A useful tool should make comparisons easier and provide forecasts—not just show old totals.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1060704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92331"/>
                </a:solidFill>
                <a:latin typeface="Aptos"/>
              </a:rPr>
              <a:t>Project 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105613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 i="0">
                <a:solidFill>
                  <a:srgbClr val="232C38"/>
                </a:solidFill>
                <a:latin typeface="Aptos"/>
              </a:rPr>
              <a:t>Build an interactive platform that explores historical Olympic performance, examines possible relationships, and estimates country-wise and sport-wise medal outcomes.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OLYMPIC PREDICTIVE ANALYTICS  |  KDD-BASED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2331"/>
                </a:solidFill>
                <a:latin typeface="Aptos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E6C7A"/>
                </a:solidFill>
                <a:latin typeface="Aptos"/>
              </a:rPr>
              <a:t>One workflow: explore the past, look for patterns, then present predictions clearly.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7472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6362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1. Explore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31089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32C38"/>
                </a:solidFill>
                <a:latin typeface="Aptos"/>
              </a:rPr>
              <a:t>Use Power BI pages to review medal totals, years, countries, sports, and athlete participation.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73152" cy="1828800"/>
          </a:xfrm>
          <a:prstGeom prst="rect">
            <a:avLst/>
          </a:prstGeom>
          <a:solidFill>
            <a:srgbClr val="CD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6362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2.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47672"/>
            <a:ext cx="31089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32C38"/>
                </a:solidFill>
                <a:latin typeface="Aptos"/>
              </a:rPr>
              <a:t>Use a Random Forest model to estimate medal counts from the prepared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417320"/>
            <a:ext cx="3474720" cy="182880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417320"/>
            <a:ext cx="73152" cy="1828800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56362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3. Communicate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947672"/>
            <a:ext cx="31089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32C38"/>
                </a:solidFill>
                <a:latin typeface="Aptos"/>
              </a:rPr>
              <a:t>Show country-level and sport-level results in charts and tables that users can filter.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5156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92331"/>
                </a:solidFill>
                <a:latin typeface="Aptos"/>
              </a:rPr>
              <a:t>What the application adds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10515600" cy="141732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32C38"/>
                </a:solidFill>
                <a:latin typeface="Aptos"/>
              </a:rPr>
              <a:t>•  A consistent view of historical performance.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32C38"/>
                </a:solidFill>
                <a:latin typeface="Aptos"/>
              </a:rPr>
              <a:t>•  Side-by-side comparisons between countries and sports.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32C38"/>
                </a:solidFill>
                <a:latin typeface="Aptos"/>
              </a:rPr>
              <a:t>•  A clear way to inspect forecasts instead of relying only on past medal totals.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OLYMPIC PREDICTIVE ANALYTICS  |  KDD-BASED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2331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E6C7A"/>
                </a:solidFill>
                <a:latin typeface="Aptos"/>
              </a:rPr>
              <a:t>The goals that guide the analysis and the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298448"/>
            <a:ext cx="10378440" cy="749808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298448"/>
            <a:ext cx="73152" cy="74980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444751"/>
            <a:ext cx="10012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Review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828800"/>
            <a:ext cx="1001268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C38"/>
                </a:solidFill>
                <a:latin typeface="Aptos"/>
              </a:rPr>
              <a:t>Explore medal trends across Olympic editions.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240280"/>
            <a:ext cx="10378440" cy="749808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240280"/>
            <a:ext cx="73152" cy="749808"/>
          </a:xfrm>
          <a:prstGeom prst="rect">
            <a:avLst/>
          </a:prstGeom>
          <a:solidFill>
            <a:srgbClr val="CD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386584"/>
            <a:ext cx="10012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Compare countries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770632"/>
            <a:ext cx="1001268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C38"/>
                </a:solidFill>
                <a:latin typeface="Aptos"/>
              </a:rPr>
              <a:t>Compare medal performance by region.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182112"/>
            <a:ext cx="10378440" cy="749808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182112"/>
            <a:ext cx="73152" cy="74980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328416"/>
            <a:ext cx="10012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Study possible factors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712463"/>
            <a:ext cx="1001268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C38"/>
                </a:solidFill>
                <a:latin typeface="Aptos"/>
              </a:rPr>
              <a:t>View athlete participation alongside medal totals.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123944"/>
            <a:ext cx="10378440" cy="749808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123944"/>
            <a:ext cx="73152" cy="749808"/>
          </a:xfrm>
          <a:prstGeom prst="rect">
            <a:avLst/>
          </a:prstGeom>
          <a:solidFill>
            <a:srgbClr val="CD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4270248"/>
            <a:ext cx="10012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Forecast 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654296"/>
            <a:ext cx="1001268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C38"/>
                </a:solidFill>
                <a:latin typeface="Aptos"/>
              </a:rPr>
              <a:t>Estimate country-wise and sport-wise medal counts.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065776"/>
            <a:ext cx="10378440" cy="749808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5065776"/>
            <a:ext cx="73152" cy="74980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5212080"/>
            <a:ext cx="10012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Make results usable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5596128"/>
            <a:ext cx="1001268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C38"/>
                </a:solidFill>
                <a:latin typeface="Aptos"/>
              </a:rPr>
              <a:t>Present results in a clear, interactive report.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OLYMPIC PREDICTIVE ANALYTICS  |  KDD-BASED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2331"/>
                </a:solidFill>
                <a:latin typeface="Aptos"/>
              </a:rPr>
              <a:t>Method: The KDD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E6C7A"/>
                </a:solidFill>
                <a:latin typeface="Aptos"/>
              </a:rPr>
              <a:t>KDD means Knowledge Discovery in Databases: a step-by-step path from raw data to useful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63040"/>
            <a:ext cx="3520440" cy="1572768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63040"/>
            <a:ext cx="73152" cy="157276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60934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1.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93392"/>
            <a:ext cx="3154680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C38"/>
                </a:solidFill>
                <a:latin typeface="Aptos"/>
              </a:rPr>
              <a:t>Choose relevant Olympic records and fields.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463040"/>
            <a:ext cx="3520440" cy="1572768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1463040"/>
            <a:ext cx="73152" cy="157276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160934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2.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1993392"/>
            <a:ext cx="3154680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C38"/>
                </a:solidFill>
                <a:latin typeface="Aptos"/>
              </a:rPr>
              <a:t>Check missing values, inconsistent labels, and data quality.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9328" y="1463040"/>
            <a:ext cx="3520440" cy="1572768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39328" y="1463040"/>
            <a:ext cx="73152" cy="157276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0496" y="160934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3. Transformation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1993392"/>
            <a:ext cx="3154680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C38"/>
                </a:solidFill>
                <a:latin typeface="Aptos"/>
              </a:rPr>
              <a:t>Prepare fields and summaries in a form suitable for analysis.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520440"/>
            <a:ext cx="3520440" cy="1572768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520440"/>
            <a:ext cx="73152" cy="1572768"/>
          </a:xfrm>
          <a:prstGeom prst="rect">
            <a:avLst/>
          </a:prstGeom>
          <a:solidFill>
            <a:srgbClr val="CD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66674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4. Data mining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050791"/>
            <a:ext cx="3154680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C38"/>
                </a:solidFill>
                <a:latin typeface="Aptos"/>
              </a:rPr>
              <a:t>Apply a Random Forest model to learn patterns from the prepared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98848" y="3520440"/>
            <a:ext cx="3520440" cy="1572768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98848" y="3520440"/>
            <a:ext cx="73152" cy="1572768"/>
          </a:xfrm>
          <a:prstGeom prst="rect">
            <a:avLst/>
          </a:prstGeom>
          <a:solidFill>
            <a:srgbClr val="CD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366674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5. Pattern recognition &amp;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4050791"/>
            <a:ext cx="3154680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C38"/>
                </a:solidFill>
                <a:latin typeface="Aptos"/>
              </a:rPr>
              <a:t>Review trends, compare results, and assess model errors.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8" y="3520440"/>
            <a:ext cx="3520440" cy="1572768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39328" y="3520440"/>
            <a:ext cx="73152" cy="1572768"/>
          </a:xfrm>
          <a:prstGeom prst="rect">
            <a:avLst/>
          </a:prstGeom>
          <a:solidFill>
            <a:srgbClr val="CD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0496" y="3666744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6. Knowledge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4050791"/>
            <a:ext cx="3154680" cy="9326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32C38"/>
                </a:solidFill>
                <a:latin typeface="Aptos"/>
              </a:rPr>
              <a:t>Turn the patterns into understandable findings and decision support.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1">
                <a:solidFill>
                  <a:srgbClr val="5E6C7A"/>
                </a:solidFill>
                <a:latin typeface="Aptos"/>
              </a:rPr>
              <a:t>Important: KDD is iterative. Findings can lead to better data preparation or a revised model.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OLYMPIC PREDICTIVE ANALYTICS  |  KDD-BASED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2331"/>
                </a:solidFill>
                <a:latin typeface="Aptos"/>
              </a:rPr>
              <a:t>Data and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E6C7A"/>
                </a:solidFill>
                <a:latin typeface="Aptos"/>
              </a:rPr>
              <a:t>The report uses historical Olympic information to compare medal results, participation, countries, and sports.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74720" cy="1874519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874519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6362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Main data themes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3108960" cy="1234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32C38"/>
                </a:solidFill>
                <a:latin typeface="Aptos"/>
              </a:rPr>
              <a:t>Medal counts • Olympic year • Region/country • Sport • Athlete participation and sex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874519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73152" cy="1874519"/>
          </a:xfrm>
          <a:prstGeom prst="rect">
            <a:avLst/>
          </a:prstGeom>
          <a:solidFill>
            <a:srgbClr val="CD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6362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Preparation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47672"/>
            <a:ext cx="3108960" cy="1234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32C38"/>
                </a:solidFill>
                <a:latin typeface="Aptos"/>
              </a:rPr>
              <a:t>Make fields consistent and connect the tables so filters and visuals show related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417320"/>
            <a:ext cx="3474720" cy="1874519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417320"/>
            <a:ext cx="73152" cy="1874519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563624"/>
            <a:ext cx="3108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Prediction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947672"/>
            <a:ext cx="3108960" cy="1234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32C38"/>
                </a:solidFill>
                <a:latin typeface="Aptos"/>
              </a:rPr>
              <a:t>Use prepared historical information to create country-wise and sport-wise medal estimates.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92331"/>
                </a:solidFill>
                <a:latin typeface="Aptos"/>
              </a:rPr>
              <a:t>Data quality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34840"/>
            <a:ext cx="1042416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32C38"/>
                </a:solidFill>
                <a:latin typeface="Aptos"/>
              </a:rPr>
              <a:t>Missing values, changes in country names, event changes, and the choice of training years can affect results. These checks should be documented as part of the KDD process.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OLYMPIC PREDICTIVE ANALYTICS  |  KDD-BASED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2331"/>
                </a:solidFill>
                <a:latin typeface="Aptos"/>
              </a:rPr>
              <a:t>Dashboard 1 | Olympics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E6C7A"/>
                </a:solidFill>
                <a:latin typeface="Aptos"/>
              </a:rPr>
              <a:t>The overview page gives a quick summary of medal totals and historical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488687"/>
            <a:ext cx="7772400" cy="4474985"/>
          </a:xfrm>
          <a:prstGeom prst="rect">
            <a:avLst/>
          </a:prstGeom>
          <a:noFill/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11547"/>
            <a:ext cx="7726679" cy="44292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1417320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92331"/>
                </a:solidFill>
                <a:latin typeface="Aptos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874519"/>
            <a:ext cx="3063240" cy="347472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32C38"/>
                </a:solidFill>
                <a:latin typeface="Aptos"/>
              </a:rPr>
              <a:t>•  Headline totals for medals and medal types.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32C38"/>
                </a:solidFill>
                <a:latin typeface="Aptos"/>
              </a:rPr>
              <a:t>•  Total medals by Olympic year.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32C38"/>
                </a:solidFill>
                <a:latin typeface="Aptos"/>
              </a:rPr>
              <a:t>•  Regions ranked by total medals.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32C38"/>
                </a:solidFill>
                <a:latin typeface="Aptos"/>
              </a:rPr>
              <a:t>•  A Summer/Winter selector for exploring the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5532120"/>
            <a:ext cx="29260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878B"/>
                </a:solidFill>
                <a:latin typeface="Aptos"/>
              </a:rPr>
              <a:t>Use it to start the story: scale, trend, and leading regions.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OLYMPIC PREDICTIVE ANALYTICS  |  KDD-BASED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2331"/>
                </a:solidFill>
                <a:latin typeface="Aptos"/>
              </a:rPr>
              <a:t>Dashboard 2 | Country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E6C7A"/>
                </a:solidFill>
                <a:latin typeface="Aptos"/>
              </a:rPr>
              <a:t>Compare medal totals by sport and review how results change over time for selected regions.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488687"/>
            <a:ext cx="7772400" cy="4474985"/>
          </a:xfrm>
          <a:prstGeom prst="rect">
            <a:avLst/>
          </a:prstGeom>
          <a:noFill/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11547"/>
            <a:ext cx="7726679" cy="44292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1417320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92331"/>
                </a:solidFill>
                <a:latin typeface="Aptos"/>
              </a:rPr>
              <a:t>Questions it helps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874519"/>
            <a:ext cx="3108960" cy="352044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232C38"/>
                </a:solidFill>
                <a:latin typeface="Aptos"/>
              </a:rPr>
              <a:t>•  Which sports contribute medals for a selected region?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32C38"/>
                </a:solidFill>
                <a:latin typeface="Aptos"/>
              </a:rPr>
              <a:t>•  How does medal performance change across years?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32C38"/>
                </a:solidFill>
                <a:latin typeface="Aptos"/>
              </a:rPr>
              <a:t>•  How do selected regions compare across sports?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5486400"/>
            <a:ext cx="3017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878B"/>
                </a:solidFill>
                <a:latin typeface="Aptos"/>
              </a:rPr>
              <a:t>Filters make the comparison interactive rather than fixed.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OLYMPIC PREDICTIVE ANALYTICS  |  KDD-BASED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2331"/>
                </a:solidFill>
                <a:latin typeface="Aptos"/>
              </a:rPr>
              <a:t>Dashboard 3 | Factors Linked to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E6C7A"/>
                </a:solidFill>
                <a:latin typeface="Aptos"/>
              </a:rPr>
              <a:t>The page explores relationships in the historical data; it does not by itself prove cause and effect.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488687"/>
            <a:ext cx="7772400" cy="4474985"/>
          </a:xfrm>
          <a:prstGeom prst="rect">
            <a:avLst/>
          </a:prstGeom>
          <a:noFill/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11547"/>
            <a:ext cx="7726679" cy="44292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49640" y="1417320"/>
            <a:ext cx="3063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92331"/>
                </a:solidFill>
                <a:latin typeface="Aptos"/>
              </a:rPr>
              <a:t>What to look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874519"/>
            <a:ext cx="3108960" cy="352044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232C38"/>
                </a:solidFill>
                <a:latin typeface="Aptos"/>
              </a:rPr>
              <a:t>•  The relationship between athlete participation and medal totals.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32C38"/>
                </a:solidFill>
                <a:latin typeface="Aptos"/>
              </a:rPr>
              <a:t>•  Differences in participation by year and sex.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32C38"/>
                </a:solidFill>
                <a:latin typeface="Aptos"/>
              </a:rPr>
              <a:t>•  Countries that stand out from the overall pattern.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5486400"/>
            <a:ext cx="30175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0878B"/>
                </a:solidFill>
                <a:latin typeface="Aptos"/>
              </a:rPr>
              <a:t>A visible relationship is a clue for further study—not proof that one factor causes another.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OLYMPIC PREDICTIVE ANALYTICS  |  KDD-BASED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2331"/>
                </a:solidFill>
                <a:latin typeface="Aptos"/>
              </a:rPr>
              <a:t>Dashboard 4 | Country-wise Medal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E6C7A"/>
                </a:solidFill>
                <a:latin typeface="Aptos"/>
              </a:rPr>
              <a:t>The page compares previous medal counts with the model's 2020 estimates.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" y="1423165"/>
            <a:ext cx="8001000" cy="4606028"/>
          </a:xfrm>
          <a:prstGeom prst="rect">
            <a:avLst/>
          </a:prstGeom>
          <a:noFill/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6025"/>
            <a:ext cx="7955279" cy="45603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1417320"/>
            <a:ext cx="28346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92331"/>
                </a:solidFill>
                <a:latin typeface="Aptos"/>
              </a:rPr>
              <a:t>Examples from the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1874519"/>
            <a:ext cx="2880360" cy="96012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41080" y="1874519"/>
            <a:ext cx="73152" cy="960120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42248" y="2020824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USA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2404872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32C38"/>
                </a:solidFill>
                <a:latin typeface="Aptos"/>
              </a:rPr>
              <a:t>121 previous medals → 105 predicted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2999232"/>
            <a:ext cx="2880360" cy="96012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41080" y="2999232"/>
            <a:ext cx="73152" cy="960120"/>
          </a:xfrm>
          <a:prstGeom prst="rect">
            <a:avLst/>
          </a:prstGeom>
          <a:solidFill>
            <a:srgbClr val="CD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42248" y="3145536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China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8" y="3529584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32C38"/>
                </a:solidFill>
                <a:latin typeface="Aptos"/>
              </a:rPr>
              <a:t>70 previous medals → 74 predicted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4123944"/>
            <a:ext cx="2880360" cy="96012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41080" y="4123944"/>
            <a:ext cx="73152" cy="960120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42248" y="4270248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Japan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4654296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32C38"/>
                </a:solidFill>
                <a:latin typeface="Aptos"/>
              </a:rPr>
              <a:t>41 previous medals → 47 predicted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5349240"/>
            <a:ext cx="28346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5E6C7A"/>
                </a:solidFill>
                <a:latin typeface="Aptos"/>
              </a:rPr>
              <a:t>These are model estimates shown in the supplied report, not guaranteed outcomes.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OLYMPIC PREDICTIVE ANALYTICS  |  KDD-BASED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2331"/>
                </a:solidFill>
                <a:latin typeface="Aptos"/>
              </a:rPr>
              <a:t>Dashboard 5 | Sport-wise Medal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E6C7A"/>
                </a:solidFill>
                <a:latin typeface="Aptos"/>
              </a:rPr>
              <a:t>Select a region to inspect the sports with the highest predicted medal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" y="1423165"/>
            <a:ext cx="8001000" cy="4606028"/>
          </a:xfrm>
          <a:prstGeom prst="rect">
            <a:avLst/>
          </a:prstGeom>
          <a:noFill/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6025"/>
            <a:ext cx="7955279" cy="45603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1417320"/>
            <a:ext cx="28346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92331"/>
                </a:solidFill>
                <a:latin typeface="Aptos"/>
              </a:rPr>
              <a:t>Example: 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874519"/>
            <a:ext cx="2834640" cy="310896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spcAft>
                <a:spcPts val="1100"/>
              </a:spcAft>
            </a:pPr>
            <a:r>
              <a:rPr sz="1400">
                <a:solidFill>
                  <a:srgbClr val="232C38"/>
                </a:solidFill>
                <a:latin typeface="Aptos"/>
              </a:rPr>
              <a:t>•  Gymnastics: 2 previous → 7 predicted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232C38"/>
                </a:solidFill>
                <a:latin typeface="Aptos"/>
              </a:rPr>
              <a:t>•  Shooting: 7 previous → 7 predicted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232C38"/>
                </a:solidFill>
                <a:latin typeface="Aptos"/>
              </a:rPr>
              <a:t>•  Table Tennis: 6 previous → 7 predicted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232C38"/>
                </a:solidFill>
                <a:latin typeface="Aptos"/>
              </a:rPr>
              <a:t>•  Diving: 10 previous → 8 predicted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5257800"/>
            <a:ext cx="27889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878B"/>
                </a:solidFill>
                <a:latin typeface="Aptos"/>
              </a:rPr>
              <a:t>The slicer lets users change the region and inspect that country's sport-level estimates.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OLYMPIC PREDICTIVE ANALYTICS  |  KDD-BASED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2331"/>
                </a:solidFill>
                <a:latin typeface="Aptos"/>
              </a:rPr>
              <a:t>From Pattern Recognition to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E6C7A"/>
                </a:solidFill>
                <a:latin typeface="Aptos"/>
              </a:rPr>
              <a:t>This is the key KDD step: explain what the patterns mean and what users can do with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155448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554480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6362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Pattern 1 | Country differences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30632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C38"/>
                </a:solidFill>
                <a:latin typeface="Aptos"/>
              </a:rPr>
              <a:t>The dashboard shows medal totals are not evenly distributed across regions.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55448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554480"/>
          </a:xfrm>
          <a:prstGeom prst="rect">
            <a:avLst/>
          </a:prstGeom>
          <a:solidFill>
            <a:srgbClr val="CD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6362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Pattern 2 | Participation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47672"/>
            <a:ext cx="30632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C38"/>
                </a:solidFill>
                <a:latin typeface="Aptos"/>
              </a:rPr>
              <a:t>Athlete counts and medal totals can be explored together to identify possible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29000" cy="155448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1554480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6362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Pattern 3 | Sport mix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47672"/>
            <a:ext cx="30632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C38"/>
                </a:solidFill>
                <a:latin typeface="Aptos"/>
              </a:rPr>
              <a:t>A country's forecast differs by sport, so national totals can hide sport-level strengths and gaps.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2044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92331"/>
                </a:solidFill>
                <a:latin typeface="Aptos"/>
              </a:rPr>
              <a:t>Knowledge gained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10515600" cy="164592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C38"/>
                </a:solidFill>
                <a:latin typeface="Aptos"/>
              </a:rPr>
              <a:t>•  Country totals alone do not explain where medals may come from; sport-level views add detail.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C38"/>
                </a:solidFill>
                <a:latin typeface="Aptos"/>
              </a:rPr>
              <a:t>•  Participation is useful context, but it should not be treated as the only reason for success.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C38"/>
                </a:solidFill>
                <a:latin typeface="Aptos"/>
              </a:rPr>
              <a:t>•  Forecasts can support planning and discussion, but should be checked against actual outcomes and model error.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70448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0878B"/>
                </a:solidFill>
                <a:latin typeface="Aptos"/>
              </a:rPr>
              <a:t>Knowledge is the interpreted insight—not simply the chart or the model output.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OLYMPIC PREDICTIVE ANALYTICS  |  KDD-BASED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2331"/>
                </a:solidFill>
                <a:latin typeface="Aptos"/>
              </a:rPr>
              <a:t>Why Power BI in Data Analytics?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E6C7A"/>
                </a:solidFill>
                <a:latin typeface="Aptos"/>
              </a:rPr>
              <a:t>Power BI helps people move from raw tables to an interactive view of the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150876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1508760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179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Interactive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01952"/>
            <a:ext cx="306324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C38"/>
                </a:solidFill>
                <a:latin typeface="Aptos"/>
              </a:rPr>
              <a:t>Slicers let users explore a report by country, season, or other available fields.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150876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73152" cy="1508760"/>
          </a:xfrm>
          <a:prstGeom prst="rect">
            <a:avLst/>
          </a:prstGeom>
          <a:solidFill>
            <a:srgbClr val="CD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179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Visual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01952"/>
            <a:ext cx="306324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C38"/>
                </a:solidFill>
                <a:latin typeface="Aptos"/>
              </a:rPr>
              <a:t>Charts and tables make comparisons and trends easier to spot.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29000" cy="150876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73152" cy="1508760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179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Connected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01952"/>
            <a:ext cx="306324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C38"/>
                </a:solidFill>
                <a:latin typeface="Aptos"/>
              </a:rPr>
              <a:t>A well-built data model lets related tables work together across visuals.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54680"/>
            <a:ext cx="3429000" cy="150876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154680"/>
            <a:ext cx="73152" cy="1508760"/>
          </a:xfrm>
          <a:prstGeom prst="rect">
            <a:avLst/>
          </a:prstGeom>
          <a:solidFill>
            <a:srgbClr val="CD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30098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Shareable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685032"/>
            <a:ext cx="306324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C38"/>
                </a:solidFill>
                <a:latin typeface="Aptos"/>
              </a:rPr>
              <a:t>Reports can be presented to teams and decision-makers in a common format.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154680"/>
            <a:ext cx="3429000" cy="150876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154680"/>
            <a:ext cx="73152" cy="1508760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30098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Decision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685032"/>
            <a:ext cx="306324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C38"/>
                </a:solidFill>
                <a:latin typeface="Aptos"/>
              </a:rPr>
              <a:t>Users can compare evidence and ask more focused questions.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154680"/>
            <a:ext cx="3429000" cy="150876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154680"/>
            <a:ext cx="73152" cy="1508760"/>
          </a:xfrm>
          <a:prstGeom prst="rect">
            <a:avLst/>
          </a:prstGeom>
          <a:solidFill>
            <a:srgbClr val="CD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30098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Works with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685032"/>
            <a:ext cx="306324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C38"/>
                </a:solidFill>
                <a:latin typeface="Aptos"/>
              </a:rPr>
              <a:t>Predictions made in Python can be brought into Power BI for exploration and communication.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32C38"/>
                </a:solidFill>
                <a:latin typeface="Aptos"/>
              </a:rPr>
              <a:t>Power BI is widely used in business intelligence because it combines data modelling, interactive reporting, and sharing. It supports analysis; it does not replace sound data preparation or statistical judgement.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OLYMPIC PREDICTIVE ANALYTICS  |  KDD-BASED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0972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192331"/>
                </a:solidFill>
                <a:latin typeface="Aptos"/>
              </a:rPr>
              <a:t>Model, Evaluation, and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5E6C7A"/>
                </a:solidFill>
                <a:latin typeface="Aptos"/>
              </a:rPr>
              <a:t>A forecast is useful only when its method and limits are understood.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164592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1645920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179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Model shown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01952"/>
            <a:ext cx="30632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C38"/>
                </a:solidFill>
                <a:latin typeface="Aptos"/>
              </a:rPr>
              <a:t>Random Forest is the stated approach for producing the medal predictions.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164592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73152" cy="1645920"/>
          </a:xfrm>
          <a:prstGeom prst="rect">
            <a:avLst/>
          </a:prstGeom>
          <a:solidFill>
            <a:srgbClr val="CD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179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01952"/>
            <a:ext cx="30632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C38"/>
                </a:solidFill>
                <a:latin typeface="Aptos"/>
              </a:rPr>
              <a:t>Use the model's measured error from the training notebook; do not treat a forecast as certain.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29000" cy="164592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73152" cy="1645920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17904"/>
            <a:ext cx="3063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Time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01952"/>
            <a:ext cx="30632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C38"/>
                </a:solidFill>
                <a:latin typeface="Aptos"/>
              </a:rPr>
              <a:t>The report is labelled as a forecast for 2020, based on historical data through 2016.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6616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92331"/>
                </a:solidFill>
                <a:latin typeface="Aptos"/>
              </a:rPr>
              <a:t>Checks before presenting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10424160" cy="146304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C38"/>
                </a:solidFill>
                <a:latin typeface="Aptos"/>
              </a:rPr>
              <a:t>•  Explain which years were used for training and which period was held out for testing.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C38"/>
                </a:solidFill>
                <a:latin typeface="Aptos"/>
              </a:rPr>
              <a:t>•  Report the actual country-wise and sport-wise error values from the notebook.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C38"/>
                </a:solidFill>
                <a:latin typeface="Aptos"/>
              </a:rPr>
              <a:t>•  Compare forecasts with the real 2020 results only as a separate validation step; do not mix them into training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1">
                <a:solidFill>
                  <a:srgbClr val="5E6C7A"/>
                </a:solidFill>
                <a:latin typeface="Aptos"/>
              </a:rPr>
              <a:t>The supplied PDF does not show the sport-wise error value, so it is intentionally not invented here.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OLYMPIC PREDICTIVE ANALYTICS  |  KDD-BASED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3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0" i="0">
                <a:solidFill>
                  <a:srgbClr val="E2EAEF"/>
                </a:solidFill>
                <a:latin typeface="Aptos"/>
              </a:rPr>
              <a:t>The project brings historical analysis, factor exploration, and medal forecasting into one interactive Power BI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26080"/>
            <a:ext cx="3337560" cy="150876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926080"/>
            <a:ext cx="73152" cy="1508760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072384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456432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C38"/>
                </a:solidFill>
                <a:latin typeface="Aptos"/>
              </a:rPr>
              <a:t>Review how Olympic performance has changed over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926080"/>
            <a:ext cx="3337560" cy="150876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926080"/>
            <a:ext cx="73152" cy="1508760"/>
          </a:xfrm>
          <a:prstGeom prst="rect">
            <a:avLst/>
          </a:prstGeom>
          <a:solidFill>
            <a:srgbClr val="CD9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3072384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3456432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C38"/>
                </a:solidFill>
                <a:latin typeface="Aptos"/>
              </a:rPr>
              <a:t>Explore differences between countries and sports.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926080"/>
            <a:ext cx="3337560" cy="1508760"/>
          </a:xfrm>
          <a:prstGeom prst="roundRect">
            <a:avLst/>
          </a:prstGeom>
          <a:solidFill>
            <a:srgbClr val="F2F6F8"/>
          </a:solidFill>
          <a:ln>
            <a:solidFill>
              <a:srgbClr val="DA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926080"/>
            <a:ext cx="73152" cy="1508760"/>
          </a:xfrm>
          <a:prstGeom prst="rect">
            <a:avLst/>
          </a:prstGeom>
          <a:solidFill>
            <a:srgbClr val="008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3072384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92331"/>
                </a:solidFill>
                <a:latin typeface="Aptos"/>
              </a:rP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3456432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32C38"/>
                </a:solidFill>
                <a:latin typeface="Aptos"/>
              </a:rPr>
              <a:t>Use forecasts as a starting point for questions and planning—not as promises.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AB7C2"/>
                </a:solidFill>
                <a:latin typeface="Aptos"/>
              </a:rPr>
              <a:t>Questions and discussion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5E6C7A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